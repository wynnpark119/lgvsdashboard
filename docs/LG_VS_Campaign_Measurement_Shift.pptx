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5943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37160" cy="1463040"/>
          </a:xfrm>
          <a:prstGeom prst="rect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장기 수주형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계약 이전에 기술 검토와 방향성 판단이</a:t>
            </a:r>
          </a:p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이미 진행되는 사업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5943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37160" cy="1463040"/>
          </a:xfrm>
          <a:prstGeom prst="rect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다수 이해관계자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79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긴 리드타임, 복수 의사결정자 관여</a:t>
            </a:r>
          </a:p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디지털 접점 → 세일즈 직접 연결 불가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5943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389120"/>
            <a:ext cx="137160" cy="1463040"/>
          </a:xfrm>
          <a:prstGeom prst="rect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성과측정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Lead → Opportunity 지표로는</a:t>
            </a:r>
          </a:p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계약 이전 기술 검토 과정 측정 불가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17920"/>
            <a:ext cx="5943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6217920"/>
            <a:ext cx="137160" cy="1463040"/>
          </a:xfrm>
          <a:prstGeom prst="rect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Tech On Board 캠페인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812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Narrative-driven 7개 레이어 구조</a:t>
            </a:r>
          </a:p>
          <a:p>
            <a:pPr>
              <a:lnSpc>
                <a:spcPct val="130000"/>
              </a:lnSpc>
              <a:defRPr sz="1300">
                <a:solidFill>
                  <a:srgbClr val="505050"/>
                </a:solidFill>
              </a:defRPr>
            </a:pPr>
            <a:r>
              <a:t>Issue Seeding → Authority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57200"/>
            <a:ext cx="7315200" cy="7315200"/>
          </a:xfrm>
          <a:prstGeom prst="rect">
            <a:avLst/>
          </a:prstGeom>
          <a:solidFill>
            <a:srgbClr val="2D2D2D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0972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FFFFF"/>
                </a:solidFill>
              </a:defRPr>
            </a:pPr>
            <a:r>
              <a:t>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1031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성과 측정의 전환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2788920"/>
            <a:ext cx="5486400" cy="45720"/>
          </a:xfrm>
          <a:prstGeom prst="rect">
            <a:avLst/>
          </a:prstGeom>
          <a:solidFill>
            <a:srgbClr val="A50034"/>
          </a:solidFill>
          <a:ln>
            <a:solidFill>
              <a:srgbClr val="A50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2004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"무엇을 얼마나 했는가"가 아니라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840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600" b="1">
                <a:solidFill>
                  <a:srgbClr val="A50034"/>
                </a:solidFill>
              </a:defRPr>
            </a:pPr>
            <a:r>
              <a:t>"캠페인 레이어가</a:t>
            </a:r>
          </a:p>
          <a:p>
            <a:pPr algn="ctr">
              <a:lnSpc>
                <a:spcPct val="120000"/>
              </a:lnSpc>
              <a:defRPr sz="2600" b="1">
                <a:solidFill>
                  <a:srgbClr val="A50034"/>
                </a:solidFill>
              </a:defRPr>
            </a:pPr>
            <a:r>
              <a:t>얼마나 효과적으로</a:t>
            </a:r>
          </a:p>
          <a:p>
            <a:pPr algn="ctr">
              <a:lnSpc>
                <a:spcPct val="120000"/>
              </a:lnSpc>
              <a:defRPr sz="2600" b="1">
                <a:solidFill>
                  <a:srgbClr val="A50034"/>
                </a:solidFill>
              </a:defRPr>
            </a:pPr>
            <a:r>
              <a:t>연결되고 있는가"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1206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를 측정해야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9436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4B4"/>
                </a:solidFill>
              </a:defRPr>
            </a:pPr>
            <a:r>
              <a:t>• Narrative Flow: 레이어 간 Handoff Rate 추적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63550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4B4"/>
                </a:solidFill>
              </a:defRPr>
            </a:pPr>
            <a:r>
              <a:t>• Core Tech Pillar: HPC vs Display 심화 검토 비교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67665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4B4"/>
                </a:solidFill>
              </a:defRPr>
            </a:pPr>
            <a:r>
              <a:t>• Channel Role: 성과 엔드포인트가 아닌 역할 수행자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77724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69696"/>
                </a:solidFill>
              </a:defRPr>
            </a:pPr>
            <a:r>
              <a:t>주요 출처 : McKinsey, Gartner, BCG, Forrester Research 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